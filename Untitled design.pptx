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Open Sans Bold" charset="1" panose="00000000000000000000"/>
      <p:regular r:id="rId7"/>
    </p:embeddedFont>
    <p:embeddedFont>
      <p:font typeface="Montserrat Semi-Bold" charset="1" panose="00000700000000000000"/>
      <p:regular r:id="rId8"/>
    </p:embeddedFont>
    <p:embeddedFont>
      <p:font typeface="Open Sans" charset="1" panose="000000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40388" y="3886967"/>
            <a:ext cx="2438070" cy="2508087"/>
          </a:xfrm>
          <a:custGeom>
            <a:avLst/>
            <a:gdLst/>
            <a:ahLst/>
            <a:cxnLst/>
            <a:rect r="r" b="b" t="t" l="l"/>
            <a:pathLst>
              <a:path h="2508087" w="2438070">
                <a:moveTo>
                  <a:pt x="0" y="0"/>
                </a:moveTo>
                <a:lnTo>
                  <a:pt x="2438070" y="0"/>
                </a:lnTo>
                <a:lnTo>
                  <a:pt x="2438070" y="2508087"/>
                </a:lnTo>
                <a:lnTo>
                  <a:pt x="0" y="2508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209542" y="3886967"/>
            <a:ext cx="2438070" cy="2508087"/>
          </a:xfrm>
          <a:custGeom>
            <a:avLst/>
            <a:gdLst/>
            <a:ahLst/>
            <a:cxnLst/>
            <a:rect r="r" b="b" t="t" l="l"/>
            <a:pathLst>
              <a:path h="2508087" w="2438070">
                <a:moveTo>
                  <a:pt x="0" y="0"/>
                </a:moveTo>
                <a:lnTo>
                  <a:pt x="2438070" y="0"/>
                </a:lnTo>
                <a:lnTo>
                  <a:pt x="2438070" y="2508087"/>
                </a:lnTo>
                <a:lnTo>
                  <a:pt x="0" y="25080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100000">
            <a:off x="5234397" y="2003011"/>
            <a:ext cx="2438070" cy="2508087"/>
          </a:xfrm>
          <a:custGeom>
            <a:avLst/>
            <a:gdLst/>
            <a:ahLst/>
            <a:cxnLst/>
            <a:rect r="r" b="b" t="t" l="l"/>
            <a:pathLst>
              <a:path h="2508087" w="2438070">
                <a:moveTo>
                  <a:pt x="0" y="0"/>
                </a:moveTo>
                <a:lnTo>
                  <a:pt x="2438070" y="0"/>
                </a:lnTo>
                <a:lnTo>
                  <a:pt x="2438070" y="2508088"/>
                </a:lnTo>
                <a:lnTo>
                  <a:pt x="0" y="2508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700000">
            <a:off x="10615533" y="5770923"/>
            <a:ext cx="2438070" cy="2508087"/>
          </a:xfrm>
          <a:custGeom>
            <a:avLst/>
            <a:gdLst/>
            <a:ahLst/>
            <a:cxnLst/>
            <a:rect r="r" b="b" t="t" l="l"/>
            <a:pathLst>
              <a:path h="2508087" w="2438070">
                <a:moveTo>
                  <a:pt x="0" y="0"/>
                </a:moveTo>
                <a:lnTo>
                  <a:pt x="2438070" y="0"/>
                </a:lnTo>
                <a:lnTo>
                  <a:pt x="2438070" y="2508087"/>
                </a:lnTo>
                <a:lnTo>
                  <a:pt x="0" y="250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100000">
            <a:off x="5234397" y="5770923"/>
            <a:ext cx="2438070" cy="2508087"/>
          </a:xfrm>
          <a:custGeom>
            <a:avLst/>
            <a:gdLst/>
            <a:ahLst/>
            <a:cxnLst/>
            <a:rect r="r" b="b" t="t" l="l"/>
            <a:pathLst>
              <a:path h="2508087" w="2438070">
                <a:moveTo>
                  <a:pt x="0" y="0"/>
                </a:moveTo>
                <a:lnTo>
                  <a:pt x="2438070" y="0"/>
                </a:lnTo>
                <a:lnTo>
                  <a:pt x="2438070" y="2508087"/>
                </a:lnTo>
                <a:lnTo>
                  <a:pt x="0" y="25080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700000">
            <a:off x="10615533" y="2003011"/>
            <a:ext cx="2438070" cy="2508087"/>
          </a:xfrm>
          <a:custGeom>
            <a:avLst/>
            <a:gdLst/>
            <a:ahLst/>
            <a:cxnLst/>
            <a:rect r="r" b="b" t="t" l="l"/>
            <a:pathLst>
              <a:path h="2508087" w="2438070">
                <a:moveTo>
                  <a:pt x="0" y="0"/>
                </a:moveTo>
                <a:lnTo>
                  <a:pt x="2438070" y="0"/>
                </a:lnTo>
                <a:lnTo>
                  <a:pt x="2438070" y="2508088"/>
                </a:lnTo>
                <a:lnTo>
                  <a:pt x="0" y="25080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6707445" y="3127935"/>
            <a:ext cx="4873111" cy="4873111"/>
          </a:xfrm>
          <a:custGeom>
            <a:avLst/>
            <a:gdLst/>
            <a:ahLst/>
            <a:cxnLst/>
            <a:rect r="r" b="b" t="t" l="l"/>
            <a:pathLst>
              <a:path h="4873111" w="4873111">
                <a:moveTo>
                  <a:pt x="0" y="0"/>
                </a:moveTo>
                <a:lnTo>
                  <a:pt x="4873110" y="0"/>
                </a:lnTo>
                <a:lnTo>
                  <a:pt x="4873110" y="4873111"/>
                </a:lnTo>
                <a:lnTo>
                  <a:pt x="0" y="487311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8852459" y="5735940"/>
            <a:ext cx="583081" cy="0"/>
          </a:xfrm>
          <a:prstGeom prst="line">
            <a:avLst/>
          </a:prstGeom>
          <a:ln cap="flat" w="57150">
            <a:solidFill>
              <a:srgbClr val="00BB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8116978" y="5735940"/>
            <a:ext cx="583081" cy="0"/>
          </a:xfrm>
          <a:prstGeom prst="line">
            <a:avLst/>
          </a:prstGeom>
          <a:ln cap="flat" w="57150">
            <a:solidFill>
              <a:srgbClr val="98D25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9587784" y="5735940"/>
            <a:ext cx="583081" cy="0"/>
          </a:xfrm>
          <a:prstGeom prst="line">
            <a:avLst/>
          </a:prstGeom>
          <a:ln cap="flat" w="57150">
            <a:solidFill>
              <a:srgbClr val="8D7EF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950085" y="2079461"/>
            <a:ext cx="591887" cy="591887"/>
            <a:chOff x="0" y="0"/>
            <a:chExt cx="155888" cy="1558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888" cy="155888"/>
            </a:xfrm>
            <a:custGeom>
              <a:avLst/>
              <a:gdLst/>
              <a:ahLst/>
              <a:cxnLst/>
              <a:rect r="r" b="b" t="t" l="l"/>
              <a:pathLst>
                <a:path h="155888" w="155888">
                  <a:moveTo>
                    <a:pt x="0" y="0"/>
                  </a:moveTo>
                  <a:lnTo>
                    <a:pt x="155888" y="0"/>
                  </a:lnTo>
                  <a:lnTo>
                    <a:pt x="155888" y="155888"/>
                  </a:lnTo>
                  <a:lnTo>
                    <a:pt x="0" y="155888"/>
                  </a:lnTo>
                  <a:close/>
                </a:path>
              </a:pathLst>
            </a:custGeom>
            <a:solidFill>
              <a:srgbClr val="00BB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55888" cy="146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42661" y="2079461"/>
            <a:ext cx="591887" cy="591887"/>
            <a:chOff x="0" y="0"/>
            <a:chExt cx="155888" cy="1558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888" cy="155888"/>
            </a:xfrm>
            <a:custGeom>
              <a:avLst/>
              <a:gdLst/>
              <a:ahLst/>
              <a:cxnLst/>
              <a:rect r="r" b="b" t="t" l="l"/>
              <a:pathLst>
                <a:path h="155888" w="155888">
                  <a:moveTo>
                    <a:pt x="0" y="0"/>
                  </a:moveTo>
                  <a:lnTo>
                    <a:pt x="155888" y="0"/>
                  </a:lnTo>
                  <a:lnTo>
                    <a:pt x="155888" y="155888"/>
                  </a:lnTo>
                  <a:lnTo>
                    <a:pt x="0" y="155888"/>
                  </a:lnTo>
                  <a:close/>
                </a:path>
              </a:pathLst>
            </a:custGeom>
            <a:solidFill>
              <a:srgbClr val="00BB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155888" cy="146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0085" y="4403473"/>
            <a:ext cx="591887" cy="591887"/>
            <a:chOff x="0" y="0"/>
            <a:chExt cx="155888" cy="1558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888" cy="155888"/>
            </a:xfrm>
            <a:custGeom>
              <a:avLst/>
              <a:gdLst/>
              <a:ahLst/>
              <a:cxnLst/>
              <a:rect r="r" b="b" t="t" l="l"/>
              <a:pathLst>
                <a:path h="155888" w="155888">
                  <a:moveTo>
                    <a:pt x="0" y="0"/>
                  </a:moveTo>
                  <a:lnTo>
                    <a:pt x="155888" y="0"/>
                  </a:lnTo>
                  <a:lnTo>
                    <a:pt x="155888" y="155888"/>
                  </a:lnTo>
                  <a:lnTo>
                    <a:pt x="0" y="155888"/>
                  </a:lnTo>
                  <a:close/>
                </a:path>
              </a:pathLst>
            </a:custGeom>
            <a:solidFill>
              <a:srgbClr val="00D28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155888" cy="146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742661" y="4403473"/>
            <a:ext cx="591887" cy="591887"/>
            <a:chOff x="0" y="0"/>
            <a:chExt cx="155888" cy="1558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5888" cy="155888"/>
            </a:xfrm>
            <a:custGeom>
              <a:avLst/>
              <a:gdLst/>
              <a:ahLst/>
              <a:cxnLst/>
              <a:rect r="r" b="b" t="t" l="l"/>
              <a:pathLst>
                <a:path h="155888" w="155888">
                  <a:moveTo>
                    <a:pt x="0" y="0"/>
                  </a:moveTo>
                  <a:lnTo>
                    <a:pt x="155888" y="0"/>
                  </a:lnTo>
                  <a:lnTo>
                    <a:pt x="155888" y="155888"/>
                  </a:lnTo>
                  <a:lnTo>
                    <a:pt x="0" y="155888"/>
                  </a:lnTo>
                  <a:close/>
                </a:path>
              </a:pathLst>
            </a:custGeom>
            <a:solidFill>
              <a:srgbClr val="00A3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155888" cy="146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0085" y="6727485"/>
            <a:ext cx="591887" cy="591887"/>
            <a:chOff x="0" y="0"/>
            <a:chExt cx="155888" cy="1558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5888" cy="155888"/>
            </a:xfrm>
            <a:custGeom>
              <a:avLst/>
              <a:gdLst/>
              <a:ahLst/>
              <a:cxnLst/>
              <a:rect r="r" b="b" t="t" l="l"/>
              <a:pathLst>
                <a:path h="155888" w="155888">
                  <a:moveTo>
                    <a:pt x="0" y="0"/>
                  </a:moveTo>
                  <a:lnTo>
                    <a:pt x="155888" y="0"/>
                  </a:lnTo>
                  <a:lnTo>
                    <a:pt x="155888" y="155888"/>
                  </a:lnTo>
                  <a:lnTo>
                    <a:pt x="0" y="155888"/>
                  </a:lnTo>
                  <a:close/>
                </a:path>
              </a:pathLst>
            </a:custGeom>
            <a:solidFill>
              <a:srgbClr val="00CAC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155888" cy="146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742661" y="6727485"/>
            <a:ext cx="591887" cy="591887"/>
            <a:chOff x="0" y="0"/>
            <a:chExt cx="155888" cy="1558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5888" cy="155888"/>
            </a:xfrm>
            <a:custGeom>
              <a:avLst/>
              <a:gdLst/>
              <a:ahLst/>
              <a:cxnLst/>
              <a:rect r="r" b="b" t="t" l="l"/>
              <a:pathLst>
                <a:path h="155888" w="155888">
                  <a:moveTo>
                    <a:pt x="0" y="0"/>
                  </a:moveTo>
                  <a:lnTo>
                    <a:pt x="155888" y="0"/>
                  </a:lnTo>
                  <a:lnTo>
                    <a:pt x="155888" y="155888"/>
                  </a:lnTo>
                  <a:lnTo>
                    <a:pt x="0" y="155888"/>
                  </a:lnTo>
                  <a:close/>
                </a:path>
              </a:pathLst>
            </a:custGeom>
            <a:solidFill>
              <a:srgbClr val="8D7EF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55888" cy="146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5698190" y="2582781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161361" y="4838700"/>
            <a:ext cx="508254" cy="609600"/>
          </a:xfrm>
          <a:custGeom>
            <a:avLst/>
            <a:gdLst/>
            <a:ahLst/>
            <a:cxnLst/>
            <a:rect r="r" b="b" t="t" l="l"/>
            <a:pathLst>
              <a:path h="609600" w="508254">
                <a:moveTo>
                  <a:pt x="0" y="0"/>
                </a:moveTo>
                <a:lnTo>
                  <a:pt x="508254" y="0"/>
                </a:lnTo>
                <a:lnTo>
                  <a:pt x="508254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774390" y="6918615"/>
            <a:ext cx="457200" cy="609600"/>
          </a:xfrm>
          <a:custGeom>
            <a:avLst/>
            <a:gdLst/>
            <a:ahLst/>
            <a:cxnLst/>
            <a:rect r="r" b="b" t="t" l="l"/>
            <a:pathLst>
              <a:path h="609600" w="457200">
                <a:moveTo>
                  <a:pt x="0" y="0"/>
                </a:moveTo>
                <a:lnTo>
                  <a:pt x="457200" y="0"/>
                </a:lnTo>
                <a:lnTo>
                  <a:pt x="457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031264" y="2671348"/>
            <a:ext cx="558546" cy="609600"/>
          </a:xfrm>
          <a:custGeom>
            <a:avLst/>
            <a:gdLst/>
            <a:ahLst/>
            <a:cxnLst/>
            <a:rect r="r" b="b" t="t" l="l"/>
            <a:pathLst>
              <a:path h="609600" w="558546">
                <a:moveTo>
                  <a:pt x="0" y="0"/>
                </a:moveTo>
                <a:lnTo>
                  <a:pt x="558546" y="0"/>
                </a:lnTo>
                <a:lnTo>
                  <a:pt x="558546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589810" y="4838700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1834568" y="6918615"/>
            <a:ext cx="609600" cy="584454"/>
          </a:xfrm>
          <a:custGeom>
            <a:avLst/>
            <a:gdLst/>
            <a:ahLst/>
            <a:cxnLst/>
            <a:rect r="r" b="b" t="t" l="l"/>
            <a:pathLst>
              <a:path h="584454" w="609600">
                <a:moveTo>
                  <a:pt x="0" y="0"/>
                </a:moveTo>
                <a:lnTo>
                  <a:pt x="609600" y="0"/>
                </a:lnTo>
                <a:lnTo>
                  <a:pt x="609600" y="584454"/>
                </a:lnTo>
                <a:lnTo>
                  <a:pt x="0" y="58445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7109261" y="4389184"/>
            <a:ext cx="406947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AGILE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METHODOLOGY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773363" y="2079461"/>
            <a:ext cx="2571750" cy="1790063"/>
            <a:chOff x="0" y="0"/>
            <a:chExt cx="3429000" cy="2386751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0" y="9525"/>
              <a:ext cx="3429000" cy="701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Cust</a:t>
              </a: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omer Collaboration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939164"/>
              <a:ext cx="3429000" cy="144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Prioritize direct communicati</a:t>
              </a: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on and feedback over formal contract negotiations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942887" y="2079461"/>
            <a:ext cx="2571750" cy="1790063"/>
            <a:chOff x="0" y="0"/>
            <a:chExt cx="3429000" cy="2386751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9525"/>
              <a:ext cx="3429000" cy="701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Individual</a:t>
              </a:r>
            </a:p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</a:t>
              </a: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eractions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939164"/>
              <a:ext cx="3429000" cy="144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Value team communicati</a:t>
              </a: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on and collaboration over processes and tools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73363" y="4403473"/>
            <a:ext cx="2571750" cy="1790063"/>
            <a:chOff x="0" y="0"/>
            <a:chExt cx="3429000" cy="2386751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9525"/>
              <a:ext cx="3429000" cy="701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</a:t>
              </a: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orking</a:t>
              </a:r>
            </a:p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Software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939164"/>
              <a:ext cx="3429000" cy="144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Focus on delivering functi</a:t>
              </a: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onal products rather than comprehensive documentation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942887" y="4403473"/>
            <a:ext cx="2571750" cy="1790063"/>
            <a:chOff x="0" y="0"/>
            <a:chExt cx="3429000" cy="2386751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0" y="9525"/>
              <a:ext cx="3429000" cy="701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It</a:t>
              </a: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erative</a:t>
              </a:r>
            </a:p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Development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939164"/>
              <a:ext cx="3429000" cy="144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Build software incrementally through short devel</a:t>
              </a: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opment cycles and feedback loops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73363" y="6727485"/>
            <a:ext cx="2571750" cy="1513838"/>
            <a:chOff x="0" y="0"/>
            <a:chExt cx="3429000" cy="2018451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0" y="9525"/>
              <a:ext cx="3429000" cy="701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Responding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</a:t>
              </a: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 Change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0" y="939164"/>
              <a:ext cx="3429000" cy="1079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Adapt quickly t</a:t>
              </a: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 new requirements instead of following rigid plans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942887" y="6727485"/>
            <a:ext cx="2571750" cy="1513838"/>
            <a:chOff x="0" y="0"/>
            <a:chExt cx="3429000" cy="2018451"/>
          </a:xfrm>
        </p:grpSpPr>
        <p:sp>
          <p:nvSpPr>
            <p:cNvPr name="TextBox 53" id="53"/>
            <p:cNvSpPr txBox="true"/>
            <p:nvPr/>
          </p:nvSpPr>
          <p:spPr>
            <a:xfrm rot="0">
              <a:off x="0" y="9525"/>
              <a:ext cx="3429000" cy="701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Continuous Impr</a:t>
              </a: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ovement 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0" y="939164"/>
              <a:ext cx="3429000" cy="1079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Regularly assess a</a:t>
              </a: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nd enhance team processes and product quality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DAG5ehlpB0I</dc:identifier>
  <dcterms:modified xsi:type="dcterms:W3CDTF">2011-08-01T06:04:30Z</dcterms:modified>
  <cp:revision>1</cp:revision>
</cp:coreProperties>
</file>